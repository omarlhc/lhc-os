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5"/>
    <p:sldId id="260" r:id="rId6"/>
    <p:sldId id="265" r:id="rId19"/>
    <p:sldId id="266" r:id="rId15"/>
    <p:sldId id="267" r:id="rId20"/>
    <p:sldId id="268" r:id="rId24"/>
    <p:sldId id="269" r:id="rId16"/>
    <p:sldId id="261" r:id="rId7"/>
    <p:sldId id="270" r:id="rId17"/>
    <p:sldId id="271" r:id="rId21"/>
    <p:sldId id="272" r:id="rId22"/>
    <p:sldId id="273" r:id="rId18"/>
    <p:sldId id="274" r:id="rId23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6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FCB1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64592"/>
            <a:ext cx="1737360" cy="373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48874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50515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LIGHTHOUSE CONSTRUCTION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FC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64592"/>
            <a:ext cx="1737360" cy="373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48874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B4B4B5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LIGHTHOUSE CONSTRUCTION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0020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LHC OS — Employee Onboarding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633472"/>
            <a:ext cx="384048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761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Internal Operating System — User Guide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3172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46304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70432" y="8138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881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Accessing the OS and logging 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7863840" cy="9144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7218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70432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Projects &amp; Tasks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7830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Managing projects, tasks and timelines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7863840" cy="9144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70432" y="2203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47802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Announcements and team updates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798064"/>
            <a:ext cx="7863840" cy="9144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620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2898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Site &amp; Documents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1729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Site reports and document vault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7863840" cy="9144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570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B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70432" y="3593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Team &amp; 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8679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People directory and system settings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B1A">
                    <a:alpha val="75000"/>
                  </a:srgbClr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GETTING STARTED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944368"/>
            <a:ext cx="320040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How to access and navigate the LHC Operating System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Accessing the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_bg_10"/>
          <p:cNvSpPr/>
          <p:nvPr/>
        </p:nvSpPr>
        <p:spPr>
          <a:xfrm>
            <a:off x="50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_num_10"/>
          <p:cNvSpPr/>
          <p:nvPr/>
        </p:nvSpPr>
        <p:spPr>
          <a:xfrm>
            <a:off x="59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01</a:t>
            </a:r>
          </a:p>
        </p:txBody>
      </p:sp>
      <p:sp>
        <p:nvSpPr>
          <p:cNvPr id="210" name="Card_text_10"/>
          <p:cNvSpPr/>
          <p:nvPr/>
        </p:nvSpPr>
        <p:spPr>
          <a:xfrm>
            <a:off x="59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Open Your Browser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Go to lhc-os.vercel.app from any device</a:t>
            </a:r>
          </a:p>
        </p:txBody>
      </p:sp>
      <p:sp>
        <p:nvSpPr>
          <p:cNvPr id="20" name="Card_bg_20"/>
          <p:cNvSpPr/>
          <p:nvPr/>
        </p:nvSpPr>
        <p:spPr>
          <a:xfrm>
            <a:off x="455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_num_20"/>
          <p:cNvSpPr/>
          <p:nvPr/>
        </p:nvSpPr>
        <p:spPr>
          <a:xfrm>
            <a:off x="464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02</a:t>
            </a:r>
          </a:p>
        </p:txBody>
      </p:sp>
      <p:sp>
        <p:nvSpPr>
          <p:cNvPr id="220" name="Card_text_20"/>
          <p:cNvSpPr/>
          <p:nvPr/>
        </p:nvSpPr>
        <p:spPr>
          <a:xfrm>
            <a:off x="464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Sign In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Use your @lighthouseegypt.com email and password</a:t>
            </a:r>
          </a:p>
        </p:txBody>
      </p:sp>
      <p:sp>
        <p:nvSpPr>
          <p:cNvPr id="30" name="Card_bg_30"/>
          <p:cNvSpPr/>
          <p:nvPr/>
        </p:nvSpPr>
        <p:spPr>
          <a:xfrm>
            <a:off x="50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Card_num_30"/>
          <p:cNvSpPr/>
          <p:nvPr/>
        </p:nvSpPr>
        <p:spPr>
          <a:xfrm>
            <a:off x="59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03</a:t>
            </a:r>
          </a:p>
        </p:txBody>
      </p:sp>
      <p:sp>
        <p:nvSpPr>
          <p:cNvPr id="230" name="Card_text_30"/>
          <p:cNvSpPr/>
          <p:nvPr/>
        </p:nvSpPr>
        <p:spPr>
          <a:xfrm>
            <a:off x="59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Dashboard Loads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You land on the Overview page automatically</a:t>
            </a:r>
          </a:p>
        </p:txBody>
      </p:sp>
      <p:sp>
        <p:nvSpPr>
          <p:cNvPr id="40" name="Card_bg_40"/>
          <p:cNvSpPr/>
          <p:nvPr/>
        </p:nvSpPr>
        <p:spPr>
          <a:xfrm>
            <a:off x="455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ard_num_40"/>
          <p:cNvSpPr/>
          <p:nvPr/>
        </p:nvSpPr>
        <p:spPr>
          <a:xfrm>
            <a:off x="464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04</a:t>
            </a:r>
          </a:p>
        </p:txBody>
      </p:sp>
      <p:sp>
        <p:nvSpPr>
          <p:cNvPr id="240" name="Card_text_40"/>
          <p:cNvSpPr/>
          <p:nvPr/>
        </p:nvSpPr>
        <p:spPr>
          <a:xfrm>
            <a:off x="464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Works Everywhere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Desktop, tablet, or mobile browser — no install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Announcements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READING ANNOUNCEMENTS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All announcements appear in the Announcements page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They also appear on your Overview dashboard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Sorted by newest first, with author and date shown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62272" y="877824"/>
            <a:ext cx="10973" cy="3657600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POSTING (MANAGERS)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188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Click + Post Announcement to create one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Set title, body, priority, and target department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Email notification sent to all relevant team members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91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502920" y="2743200"/>
            <a:ext cx="3474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871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lhc-os.vercel.app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For support, contact your system administrator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B1A">
                    <a:alpha val="75000"/>
                  </a:srgbClr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PROJECTS &amp; TASKS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944368"/>
            <a:ext cx="3200400" cy="202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Tracking work, assigning tasks and monitoring progress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2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B1A">
                    <a:alpha val="75000"/>
                  </a:srgbClr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COMMUNICATION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944368"/>
            <a:ext cx="3200400" cy="203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Company-wide and department announcements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3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B1A">
                    <a:alpha val="75000"/>
                  </a:srgbClr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SITE &amp; DOCUMENTS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944368"/>
            <a:ext cx="3200400" cy="204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Daily site reporting and centralised document management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4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B1A">
                    <a:alpha val="75000"/>
                  </a:srgbClr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TEAM &amp; ADMIN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944368"/>
            <a:ext cx="3200400" cy="205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4B4B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People directory and system administration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51/main" xmlns="" val="0"/>
            </a:ext>
          </a:extLst>
        </p:spPr>
        <p:txBody>
          <a:bodyPr/>
          <a:lstStyle>
            <a:lvl1pPr>
              <a:defRPr sz="800">
                <a:solidFill>
                  <a:srgbClr val="B4B4B5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Your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_bg_10"/>
          <p:cNvSpPr/>
          <p:nvPr/>
        </p:nvSpPr>
        <p:spPr>
          <a:xfrm>
            <a:off x="50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_num_10"/>
          <p:cNvSpPr/>
          <p:nvPr/>
        </p:nvSpPr>
        <p:spPr>
          <a:xfrm>
            <a:off x="59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↗</a:t>
            </a:r>
          </a:p>
        </p:txBody>
      </p:sp>
      <p:sp>
        <p:nvSpPr>
          <p:cNvPr id="210" name="Card_text_10"/>
          <p:cNvSpPr/>
          <p:nvPr/>
        </p:nvSpPr>
        <p:spPr>
          <a:xfrm>
            <a:off x="59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Active Projects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All projects currently in progress</a:t>
            </a:r>
          </a:p>
        </p:txBody>
      </p:sp>
      <p:sp>
        <p:nvSpPr>
          <p:cNvPr id="20" name="Card_bg_20"/>
          <p:cNvSpPr/>
          <p:nvPr/>
        </p:nvSpPr>
        <p:spPr>
          <a:xfrm>
            <a:off x="455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_num_20"/>
          <p:cNvSpPr/>
          <p:nvPr/>
        </p:nvSpPr>
        <p:spPr>
          <a:xfrm>
            <a:off x="464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✓</a:t>
            </a:r>
          </a:p>
        </p:txBody>
      </p:sp>
      <p:sp>
        <p:nvSpPr>
          <p:cNvPr id="220" name="Card_text_20"/>
          <p:cNvSpPr/>
          <p:nvPr/>
        </p:nvSpPr>
        <p:spPr>
          <a:xfrm>
            <a:off x="464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Tasks &amp; Completion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Total tasks and how many are done</a:t>
            </a:r>
          </a:p>
        </p:txBody>
      </p:sp>
      <p:sp>
        <p:nvSpPr>
          <p:cNvPr id="30" name="Card_bg_30"/>
          <p:cNvSpPr/>
          <p:nvPr/>
        </p:nvSpPr>
        <p:spPr>
          <a:xfrm>
            <a:off x="50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Card_num_30"/>
          <p:cNvSpPr/>
          <p:nvPr/>
        </p:nvSpPr>
        <p:spPr>
          <a:xfrm>
            <a:off x="59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⚠</a:t>
            </a:r>
          </a:p>
        </p:txBody>
      </p:sp>
      <p:sp>
        <p:nvSpPr>
          <p:cNvPr id="230" name="Card_text_30"/>
          <p:cNvSpPr/>
          <p:nvPr/>
        </p:nvSpPr>
        <p:spPr>
          <a:xfrm>
            <a:off x="59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Overdue Items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Tasks past their deadline needing attention</a:t>
            </a:r>
          </a:p>
        </p:txBody>
      </p:sp>
      <p:sp>
        <p:nvSpPr>
          <p:cNvPr id="40" name="Card_bg_40"/>
          <p:cNvSpPr/>
          <p:nvPr/>
        </p:nvSpPr>
        <p:spPr>
          <a:xfrm>
            <a:off x="455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ard_num_40"/>
          <p:cNvSpPr/>
          <p:nvPr/>
        </p:nvSpPr>
        <p:spPr>
          <a:xfrm>
            <a:off x="464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👥</a:t>
            </a:r>
          </a:p>
        </p:txBody>
      </p:sp>
      <p:sp>
        <p:nvSpPr>
          <p:cNvPr id="240" name="Card_text_40"/>
          <p:cNvSpPr/>
          <p:nvPr/>
        </p:nvSpPr>
        <p:spPr>
          <a:xfrm>
            <a:off x="464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Team Members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Total active employees in the system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Projects — Board 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_bg_10"/>
          <p:cNvSpPr/>
          <p:nvPr/>
        </p:nvSpPr>
        <p:spPr>
          <a:xfrm>
            <a:off x="50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_num_10"/>
          <p:cNvSpPr/>
          <p:nvPr/>
        </p:nvSpPr>
        <p:spPr>
          <a:xfrm>
            <a:off x="59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01</a:t>
            </a:r>
          </a:p>
        </p:txBody>
      </p:sp>
      <p:sp>
        <p:nvSpPr>
          <p:cNvPr id="210" name="Card_text_10"/>
          <p:cNvSpPr/>
          <p:nvPr/>
        </p:nvSpPr>
        <p:spPr>
          <a:xfrm>
            <a:off x="59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Find Your Project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Click Projects in the sidebar to see all active work</a:t>
            </a:r>
          </a:p>
        </p:txBody>
      </p:sp>
      <p:sp>
        <p:nvSpPr>
          <p:cNvPr id="20" name="Card_bg_20"/>
          <p:cNvSpPr/>
          <p:nvPr/>
        </p:nvSpPr>
        <p:spPr>
          <a:xfrm>
            <a:off x="455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_num_20"/>
          <p:cNvSpPr/>
          <p:nvPr/>
        </p:nvSpPr>
        <p:spPr>
          <a:xfrm>
            <a:off x="464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02</a:t>
            </a:r>
          </a:p>
        </p:txBody>
      </p:sp>
      <p:sp>
        <p:nvSpPr>
          <p:cNvPr id="220" name="Card_text_20"/>
          <p:cNvSpPr/>
          <p:nvPr/>
        </p:nvSpPr>
        <p:spPr>
          <a:xfrm>
            <a:off x="464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Four Columns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To Do → In Progress → Review → Done</a:t>
            </a:r>
          </a:p>
        </p:txBody>
      </p:sp>
      <p:sp>
        <p:nvSpPr>
          <p:cNvPr id="30" name="Card_bg_30"/>
          <p:cNvSpPr/>
          <p:nvPr/>
        </p:nvSpPr>
        <p:spPr>
          <a:xfrm>
            <a:off x="50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Card_num_30"/>
          <p:cNvSpPr/>
          <p:nvPr/>
        </p:nvSpPr>
        <p:spPr>
          <a:xfrm>
            <a:off x="59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03</a:t>
            </a:r>
          </a:p>
        </p:txBody>
      </p:sp>
      <p:sp>
        <p:nvSpPr>
          <p:cNvPr id="230" name="Card_text_30"/>
          <p:cNvSpPr/>
          <p:nvPr/>
        </p:nvSpPr>
        <p:spPr>
          <a:xfrm>
            <a:off x="59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Drag &amp; Drop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Move task cards between columns to update status instantly</a:t>
            </a:r>
          </a:p>
        </p:txBody>
      </p:sp>
      <p:sp>
        <p:nvSpPr>
          <p:cNvPr id="40" name="Card_bg_40"/>
          <p:cNvSpPr/>
          <p:nvPr/>
        </p:nvSpPr>
        <p:spPr>
          <a:xfrm>
            <a:off x="455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ard_num_40"/>
          <p:cNvSpPr/>
          <p:nvPr/>
        </p:nvSpPr>
        <p:spPr>
          <a:xfrm>
            <a:off x="464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04</a:t>
            </a:r>
          </a:p>
        </p:txBody>
      </p:sp>
      <p:sp>
        <p:nvSpPr>
          <p:cNvPr id="240" name="Card_text_40"/>
          <p:cNvSpPr/>
          <p:nvPr/>
        </p:nvSpPr>
        <p:spPr>
          <a:xfrm>
            <a:off x="464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Task Details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Each card shows priority, department, deadline and assignee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Site Reports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_bg_10"/>
          <p:cNvSpPr/>
          <p:nvPr/>
        </p:nvSpPr>
        <p:spPr>
          <a:xfrm>
            <a:off x="50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_num_10"/>
          <p:cNvSpPr/>
          <p:nvPr/>
        </p:nvSpPr>
        <p:spPr>
          <a:xfrm>
            <a:off x="59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01</a:t>
            </a:r>
          </a:p>
        </p:txBody>
      </p:sp>
      <p:sp>
        <p:nvSpPr>
          <p:cNvPr id="210" name="Card_text_10"/>
          <p:cNvSpPr/>
          <p:nvPr/>
        </p:nvSpPr>
        <p:spPr>
          <a:xfrm>
            <a:off x="59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Open Site Reports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Click Site Reports in the sidebar then + New Report</a:t>
            </a:r>
          </a:p>
        </p:txBody>
      </p:sp>
      <p:sp>
        <p:nvSpPr>
          <p:cNvPr id="20" name="Card_bg_20"/>
          <p:cNvSpPr/>
          <p:nvPr/>
        </p:nvSpPr>
        <p:spPr>
          <a:xfrm>
            <a:off x="455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_num_20"/>
          <p:cNvSpPr/>
          <p:nvPr/>
        </p:nvSpPr>
        <p:spPr>
          <a:xfrm>
            <a:off x="464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02</a:t>
            </a:r>
          </a:p>
        </p:txBody>
      </p:sp>
      <p:sp>
        <p:nvSpPr>
          <p:cNvPr id="220" name="Card_text_20"/>
          <p:cNvSpPr/>
          <p:nvPr/>
        </p:nvSpPr>
        <p:spPr>
          <a:xfrm>
            <a:off x="464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Fill the Form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Project, date, type (daily/weekly), manpower, work done</a:t>
            </a:r>
          </a:p>
        </p:txBody>
      </p:sp>
      <p:sp>
        <p:nvSpPr>
          <p:cNvPr id="30" name="Card_bg_30"/>
          <p:cNvSpPr/>
          <p:nvPr/>
        </p:nvSpPr>
        <p:spPr>
          <a:xfrm>
            <a:off x="50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Card_num_30"/>
          <p:cNvSpPr/>
          <p:nvPr/>
        </p:nvSpPr>
        <p:spPr>
          <a:xfrm>
            <a:off x="59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03</a:t>
            </a:r>
          </a:p>
        </p:txBody>
      </p:sp>
      <p:sp>
        <p:nvSpPr>
          <p:cNvPr id="230" name="Card_text_30"/>
          <p:cNvSpPr/>
          <p:nvPr/>
        </p:nvSpPr>
        <p:spPr>
          <a:xfrm>
            <a:off x="59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Log Issues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Add weather conditions, problems, or relevant site notes</a:t>
            </a:r>
          </a:p>
        </p:txBody>
      </p:sp>
      <p:sp>
        <p:nvSpPr>
          <p:cNvPr id="40" name="Card_bg_40"/>
          <p:cNvSpPr/>
          <p:nvPr/>
        </p:nvSpPr>
        <p:spPr>
          <a:xfrm>
            <a:off x="455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ard_num_40"/>
          <p:cNvSpPr/>
          <p:nvPr/>
        </p:nvSpPr>
        <p:spPr>
          <a:xfrm>
            <a:off x="464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04</a:t>
            </a:r>
          </a:p>
        </p:txBody>
      </p:sp>
      <p:sp>
        <p:nvSpPr>
          <p:cNvPr id="240" name="Card_text_40"/>
          <p:cNvSpPr/>
          <p:nvPr/>
        </p:nvSpPr>
        <p:spPr>
          <a:xfrm>
            <a:off x="464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Submit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Management reviews and marks reports as Reviewed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Document Vault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863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Click Documents to access the centralised file repository</a:t>
            </a:r>
            <a:endParaRPr lang="en-US" sz="1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Upload PDFs, drawings, BOQs, contracts, RFIs, submittals and more</a:t>
            </a:r>
            <a:endParaRPr lang="en-US" sz="1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Tag files by category and link them to a specific project</a:t>
            </a:r>
            <a:endParaRPr lang="en-US" sz="1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Managers can approve documents and send them directly to clients by email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People &amp; Admin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_bg_10"/>
          <p:cNvSpPr/>
          <p:nvPr/>
        </p:nvSpPr>
        <p:spPr>
          <a:xfrm>
            <a:off x="50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_num_10"/>
          <p:cNvSpPr/>
          <p:nvPr/>
        </p:nvSpPr>
        <p:spPr>
          <a:xfrm>
            <a:off x="59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👤</a:t>
            </a:r>
          </a:p>
        </p:txBody>
      </p:sp>
      <p:sp>
        <p:nvSpPr>
          <p:cNvPr id="210" name="Card_text_10"/>
          <p:cNvSpPr/>
          <p:nvPr/>
        </p:nvSpPr>
        <p:spPr>
          <a:xfrm>
            <a:off x="59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People Directory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View all team members, departments, roles and contacts</a:t>
            </a:r>
          </a:p>
        </p:txBody>
      </p:sp>
      <p:sp>
        <p:nvSpPr>
          <p:cNvPr id="20" name="Card_bg_20"/>
          <p:cNvSpPr/>
          <p:nvPr/>
        </p:nvSpPr>
        <p:spPr>
          <a:xfrm>
            <a:off x="4552920" y="82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_num_20"/>
          <p:cNvSpPr/>
          <p:nvPr/>
        </p:nvSpPr>
        <p:spPr>
          <a:xfrm>
            <a:off x="4644360" y="91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✉</a:t>
            </a:r>
          </a:p>
        </p:txBody>
      </p:sp>
      <p:sp>
        <p:nvSpPr>
          <p:cNvPr id="220" name="Card_text_20"/>
          <p:cNvSpPr/>
          <p:nvPr/>
        </p:nvSpPr>
        <p:spPr>
          <a:xfrm>
            <a:off x="4644360" y="145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Find the Right Person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See who owns a task and how to reach them</a:t>
            </a:r>
          </a:p>
        </p:txBody>
      </p:sp>
      <p:sp>
        <p:nvSpPr>
          <p:cNvPr id="30" name="Card_bg_30"/>
          <p:cNvSpPr/>
          <p:nvPr/>
        </p:nvSpPr>
        <p:spPr>
          <a:xfrm>
            <a:off x="50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Card_num_30"/>
          <p:cNvSpPr/>
          <p:nvPr/>
        </p:nvSpPr>
        <p:spPr>
          <a:xfrm>
            <a:off x="59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＋</a:t>
            </a:r>
          </a:p>
        </p:txBody>
      </p:sp>
      <p:sp>
        <p:nvSpPr>
          <p:cNvPr id="230" name="Card_text_30"/>
          <p:cNvSpPr/>
          <p:nvPr/>
        </p:nvSpPr>
        <p:spPr>
          <a:xfrm>
            <a:off x="59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Invite New Staff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Admins invite employees from Admin panel by company email</a:t>
            </a:r>
          </a:p>
        </p:txBody>
      </p:sp>
      <p:sp>
        <p:nvSpPr>
          <p:cNvPr id="40" name="Card_bg_40"/>
          <p:cNvSpPr/>
          <p:nvPr/>
        </p:nvSpPr>
        <p:spPr>
          <a:xfrm>
            <a:off x="4552920" y="2650000"/>
            <a:ext cx="3900000" cy="1680000"/>
          </a:xfrm>
          <a:prstGeom prst="roundRect">
            <a:avLst>
              <a:gd name="adj" fmla="val 30000"/>
            </a:avLst>
          </a:prstGeom>
          <a:solidFill>
            <a:srgbClr val="E3DE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ard_num_40"/>
          <p:cNvSpPr/>
          <p:nvPr/>
        </p:nvSpPr>
        <p:spPr>
          <a:xfrm>
            <a:off x="4644360" y="2741440"/>
            <a:ext cx="585000" cy="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B1A"/>
                </a:solidFill>
                <a:latin typeface="Futura" pitchFamily="34" charset="0"/>
              </a:rPr>
              <a:t>🔑</a:t>
            </a:r>
          </a:p>
        </p:txBody>
      </p:sp>
      <p:sp>
        <p:nvSpPr>
          <p:cNvPr id="240" name="Card_text_40"/>
          <p:cNvSpPr/>
          <p:nvPr/>
        </p:nvSpPr>
        <p:spPr>
          <a:xfrm>
            <a:off x="4644360" y="3288400"/>
            <a:ext cx="3717120" cy="9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Futura" pitchFamily="34" charset="0"/>
              </a:rPr>
              <a:t>Instant Access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505151"/>
                </a:solidFill>
                <a:latin typeface="Proxima Nova" pitchFamily="34" charset="0"/>
              </a:rPr>
              <a:t>New users set their own password and are live immediately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00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List View &amp;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1188720" cy="20117"/>
          </a:xfrm>
          <a:prstGeom prst="rect">
            <a:avLst/>
          </a:prstGeom>
          <a:solidFill>
            <a:srgbClr val="FFCB1A"/>
          </a:solidFill>
          <a:ln w="12700">
            <a:solidFill>
              <a:srgbClr val="FFC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LIST 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See all tasks in a sortable table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Change task status via dropdown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Filter by priority or department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62272" y="877824"/>
            <a:ext cx="10973" cy="3657600"/>
          </a:xfrm>
          <a:prstGeom prst="rect">
            <a:avLst/>
          </a:prstGeom>
          <a:solidFill>
            <a:srgbClr val="DED5CD"/>
          </a:solidFill>
          <a:ln w="12700">
            <a:solidFill>
              <a:srgbClr val="DED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TIMELINE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188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Visual Gantt chart of all tasks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Red line marks today's date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0515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Overdue tasks highlighted in 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8746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05151"/>
                </a:solidFill>
                <a:latin typeface="Proxima Nova"/>
                <a:ea typeface="Proxima Nova"/>
                <a:cs typeface="Proxima Nova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Macintosh PowerPoint</Application>
  <PresentationFormat>On-screen Show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Futura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Lighthouse Construction — Presentation Template</dc:title>
  <dc:subject>Brand Template v2</dc:subject>
  <dc:creator>Lighthouse Construction</dc:creator>
  <cp:lastModifiedBy>Omar El Banna</cp:lastModifiedBy>
  <cp:revision>1</cp:revision>
  <dcterms:created xsi:type="dcterms:W3CDTF">2026-03-29T23:04:11Z</dcterms:created>
  <dcterms:modified xsi:type="dcterms:W3CDTF">2026-04-10T04:02:06Z</dcterms:modified>
</cp:coreProperties>
</file>